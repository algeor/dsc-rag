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d729b2c5214901" /><Relationship Type="http://schemas.openxmlformats.org/officeDocument/2006/relationships/extended-properties" Target="/docProps/app.xml" Id="Re36c52777212408c" /><Relationship Type="http://schemas.openxmlformats.org/officeDocument/2006/relationships/officeDocument" Target="/ppt/presentation.xml" Id="Rab5dbb44c4e042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f6c96346d4473"/>
  </p:sldMasterIdLst>
  <p:notesMasterIdLst>
    <p:notesMasterId xmlns:r="http://schemas.openxmlformats.org/officeDocument/2006/relationships" r:id="R40108266fdcc4e98"/>
  </p:notesMasterIdLst>
  <p:sldIdLst>
    <p:sldId xmlns:r="http://schemas.openxmlformats.org/officeDocument/2006/relationships" id="256" r:id="R49f2cb2643004189"/>
    <p:sldId xmlns:r="http://schemas.openxmlformats.org/officeDocument/2006/relationships" id="257" r:id="R020a79e502734f30"/>
    <p:sldId xmlns:r="http://schemas.openxmlformats.org/officeDocument/2006/relationships" id="258" r:id="Re610b3020ec34bd1"/>
    <p:sldId xmlns:r="http://schemas.openxmlformats.org/officeDocument/2006/relationships" id="259" r:id="Rc09bf2fb0c2d4f5e"/>
    <p:sldId xmlns:r="http://schemas.openxmlformats.org/officeDocument/2006/relationships" id="260" r:id="R33cbccedc5d54fd6"/>
    <p:sldId xmlns:r="http://schemas.openxmlformats.org/officeDocument/2006/relationships" id="261" r:id="Rc81e9961da17423c"/>
    <p:sldId xmlns:r="http://schemas.openxmlformats.org/officeDocument/2006/relationships" id="262" r:id="Rdbc46e4c8ec748b7"/>
    <p:sldId xmlns:r="http://schemas.openxmlformats.org/officeDocument/2006/relationships" id="263" r:id="R55661bd450924e4d"/>
    <p:sldId xmlns:r="http://schemas.openxmlformats.org/officeDocument/2006/relationships" id="264" r:id="Rbde0b59c7d9342af"/>
    <p:sldId xmlns:r="http://schemas.openxmlformats.org/officeDocument/2006/relationships" id="265" r:id="R13d1ce46841442e5"/>
    <p:sldId xmlns:r="http://schemas.openxmlformats.org/officeDocument/2006/relationships" id="266" r:id="R416f34ce5b8f4f71"/>
    <p:sldId xmlns:r="http://schemas.openxmlformats.org/officeDocument/2006/relationships" id="267" r:id="R8fa194ee21984f1e"/>
    <p:sldId xmlns:r="http://schemas.openxmlformats.org/officeDocument/2006/relationships" id="268" r:id="R66c60dba1ff14b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f77f147d1e4b25" /><Relationship Type="http://schemas.openxmlformats.org/officeDocument/2006/relationships/slideMaster" Target="/ppt/slideMasters/slideMaster1.xml" Id="R913f6c96346d4473" /><Relationship Type="http://schemas.openxmlformats.org/officeDocument/2006/relationships/notesMaster" Target="/ppt/notesMasters/notesMaster1.xml" Id="R40108266fdcc4e98" /><Relationship Type="http://schemas.openxmlformats.org/officeDocument/2006/relationships/presProps" Target="/ppt/presProps.xml" Id="R579331e415f045d1" /><Relationship Type="http://schemas.openxmlformats.org/officeDocument/2006/relationships/tableStyles" Target="/ppt/tableStyles.xml" Id="R3d52ff77bd344372" /><Relationship Type="http://schemas.openxmlformats.org/officeDocument/2006/relationships/slide" Target="/ppt/slides/slide1.xml" Id="R49f2cb2643004189" /><Relationship Type="http://schemas.openxmlformats.org/officeDocument/2006/relationships/slide" Target="/ppt/slides/slide2.xml" Id="R020a79e502734f30" /><Relationship Type="http://schemas.openxmlformats.org/officeDocument/2006/relationships/slide" Target="/ppt/slides/slide3.xml" Id="Re610b3020ec34bd1" /><Relationship Type="http://schemas.openxmlformats.org/officeDocument/2006/relationships/slide" Target="/ppt/slides/slide4.xml" Id="Rc09bf2fb0c2d4f5e" /><Relationship Type="http://schemas.openxmlformats.org/officeDocument/2006/relationships/slide" Target="/ppt/slides/slide5.xml" Id="R33cbccedc5d54fd6" /><Relationship Type="http://schemas.openxmlformats.org/officeDocument/2006/relationships/slide" Target="/ppt/slides/slide6.xml" Id="Rc81e9961da17423c" /><Relationship Type="http://schemas.openxmlformats.org/officeDocument/2006/relationships/slide" Target="/ppt/slides/slide7.xml" Id="Rdbc46e4c8ec748b7" /><Relationship Type="http://schemas.openxmlformats.org/officeDocument/2006/relationships/slide" Target="/ppt/slides/slide8.xml" Id="R55661bd450924e4d" /><Relationship Type="http://schemas.openxmlformats.org/officeDocument/2006/relationships/slide" Target="/ppt/slides/slide9.xml" Id="Rbde0b59c7d9342af" /><Relationship Type="http://schemas.openxmlformats.org/officeDocument/2006/relationships/slide" Target="/ppt/slides/slide10.xml" Id="R13d1ce46841442e5" /><Relationship Type="http://schemas.openxmlformats.org/officeDocument/2006/relationships/slide" Target="/ppt/slides/slide11.xml" Id="R416f34ce5b8f4f71" /><Relationship Type="http://schemas.openxmlformats.org/officeDocument/2006/relationships/slide" Target="/ppt/slides/slide12.xml" Id="R8fa194ee21984f1e" /><Relationship Type="http://schemas.openxmlformats.org/officeDocument/2006/relationships/slide" Target="/ppt/slides/slide13.xml" Id="R66c60dba1ff1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ca597bfed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829e32b1b4a62" /><Relationship Type="http://schemas.openxmlformats.org/officeDocument/2006/relationships/notesMaster" Target="/ppt/notesMasters/notesMaster1.xml" Id="R05bf3b01801648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7ab34571b4237" /><Relationship Type="http://schemas.openxmlformats.org/officeDocument/2006/relationships/notesMaster" Target="/ppt/notesMasters/notesMaster1.xml" Id="R13ea7afb904a4f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e0a6d99ec645a4" /><Relationship Type="http://schemas.openxmlformats.org/officeDocument/2006/relationships/notesMaster" Target="/ppt/notesMasters/notesMaster1.xml" Id="Re68565d2e3844a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dc229e739482d" /><Relationship Type="http://schemas.openxmlformats.org/officeDocument/2006/relationships/notesMaster" Target="/ppt/notesMasters/notesMaster1.xml" Id="Rfc5a4ed4fb224f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db8360ec264954" /><Relationship Type="http://schemas.openxmlformats.org/officeDocument/2006/relationships/notesMaster" Target="/ppt/notesMasters/notesMaster1.xml" Id="R8597d93e4eb344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b3c3d93db641e8" /><Relationship Type="http://schemas.openxmlformats.org/officeDocument/2006/relationships/notesMaster" Target="/ppt/notesMasters/notesMaster1.xml" Id="R725f98a00709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6be27fcb5743c7" /><Relationship Type="http://schemas.openxmlformats.org/officeDocument/2006/relationships/notesMaster" Target="/ppt/notesMasters/notesMaster1.xml" Id="R033520865d9541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65bbd42dd842d2" /><Relationship Type="http://schemas.openxmlformats.org/officeDocument/2006/relationships/notesMaster" Target="/ppt/notesMasters/notesMaster1.xml" Id="R4defd900ded1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d50fb8b0e3416c" /><Relationship Type="http://schemas.openxmlformats.org/officeDocument/2006/relationships/notesMaster" Target="/ppt/notesMasters/notesMaster1.xml" Id="R0b476eb2117d4f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8a188c8f9242c8" /><Relationship Type="http://schemas.openxmlformats.org/officeDocument/2006/relationships/notesMaster" Target="/ppt/notesMasters/notesMaster1.xml" Id="R2ca4526dc3ab49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ee624d6f20469a" /><Relationship Type="http://schemas.openxmlformats.org/officeDocument/2006/relationships/notesMaster" Target="/ppt/notesMasters/notesMaster1.xml" Id="R2cc7a8b3e10e48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f59d3fcad3404d" /><Relationship Type="http://schemas.openxmlformats.org/officeDocument/2006/relationships/notesMaster" Target="/ppt/notesMasters/notesMaster1.xml" Id="R670d0a09fd1d4e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1760a5d39947a5" /><Relationship Type="http://schemas.openxmlformats.org/officeDocument/2006/relationships/notesMaster" Target="/ppt/notesMasters/notesMaster1.xml" Id="Re44dc8045466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README_BG.md, PRESENTER_BG.md, scripts/demo.py.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README_BG.md, PRESENTER_BG.md.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scripts/demo.py, data/manifest.json.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data/example_naive.json, documents/01_legacy.md, documents/07_slack_old.md, documents/02_contract.md.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scripts/demo.py, data/example_context.json.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data/example_context.json, PRESENTER_BG.md.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data/example_live.json, scripts/demo.py, data/operations.sqlite.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scripts/demo.py ablation behavior, documents/02_contract.md.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README_BG.md limitations and check_demo.py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README_BG.md, PRESENTER_BG.md.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scripts/demo.py, README_BG.md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PRESENTER_BG.md, README_BG.md limitations, scripts/demo.py.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full demo package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6f163eebb42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08f84e3fd4b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379f264d24a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a376d45494c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1f839efee48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33ba1711a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A6011D-E373-4A42-8C87-2EFB8F006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924C8A-9093-4497-8240-49718CC1EF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7EDE33-1E98-4790-9857-27DCFE7F9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0FD523-BC93-4A72-A2CA-8728D4363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DAAC94-E272-4FA8-8C87-B0EB029091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FC490A-ABA3-40C6-9FD7-4B3D8D5ED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420A83-09F2-457C-A73F-0BBBBB1469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4F31C3-1AD2-4E9A-881B-60E37ED486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5F9853-9D26-44DB-8F79-473794B19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437231-46E6-4E5D-8C55-B4C40C6BE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45c1ca26854425" /><Relationship Type="http://schemas.openxmlformats.org/officeDocument/2006/relationships/slideLayout" Target="/ppt/slideLayouts/slideLayout1.xml" Id="R4d81b520cff94186" /><Relationship Type="http://schemas.openxmlformats.org/officeDocument/2006/relationships/slideLayout" Target="/ppt/slideLayouts/slideLayout2.xml" Id="R88c9db666f884ba7" /><Relationship Type="http://schemas.openxmlformats.org/officeDocument/2006/relationships/slideLayout" Target="/ppt/slideLayouts/slideLayout3.xml" Id="R114845934c9144d2" /><Relationship Type="http://schemas.openxmlformats.org/officeDocument/2006/relationships/slideLayout" Target="/ppt/slideLayouts/slideLayout4.xml" Id="R099cf82ee89a47ce" /><Relationship Type="http://schemas.openxmlformats.org/officeDocument/2006/relationships/slideLayout" Target="/ppt/slideLayouts/slideLayout5.xml" Id="R2bc5c5475ddb4d4d" /><Relationship Type="http://schemas.openxmlformats.org/officeDocument/2006/relationships/slideLayout" Target="/ppt/slideLayouts/slideLayout6.xml" Id="R6bd78b0542cd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1b520cff94186"/>
    <p:sldLayoutId xmlns:r="http://schemas.openxmlformats.org/officeDocument/2006/relationships" id="2147483650" r:id="R88c9db666f884ba7"/>
    <p:sldLayoutId xmlns:r="http://schemas.openxmlformats.org/officeDocument/2006/relationships" id="2147483651" r:id="R114845934c9144d2"/>
    <p:sldLayoutId xmlns:r="http://schemas.openxmlformats.org/officeDocument/2006/relationships" id="2147483652" r:id="R099cf82ee89a47ce"/>
    <p:sldLayoutId xmlns:r="http://schemas.openxmlformats.org/officeDocument/2006/relationships" id="2147483653" r:id="R2bc5c5475ddb4d4d"/>
    <p:sldLayoutId xmlns:r="http://schemas.openxmlformats.org/officeDocument/2006/relationships" id="2147483654" r:id="R6bd78b0542cd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20452545d4c0c" /><Relationship Type="http://schemas.openxmlformats.org/officeDocument/2006/relationships/notesSlide" Target="/ppt/notesSlides/notesSlide1.xml" Id="Rcee595078cd6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df3a5183f433c" /><Relationship Type="http://schemas.openxmlformats.org/officeDocument/2006/relationships/notesSlide" Target="/ppt/notesSlides/notesSlide2.xml" Id="R5934cb1b3681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6df541d4b451e" /><Relationship Type="http://schemas.openxmlformats.org/officeDocument/2006/relationships/notesSlide" Target="/ppt/notesSlides/notesSlide3.xml" Id="R84fee2212a45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c04b7a63a4a1a" /><Relationship Type="http://schemas.openxmlformats.org/officeDocument/2006/relationships/notesSlide" Target="/ppt/notesSlides/notesSlide4.xml" Id="Rf1285d41407842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8eb0b422d4dc2" /><Relationship Type="http://schemas.openxmlformats.org/officeDocument/2006/relationships/notesSlide" Target="/ppt/notesSlides/notesSlide5.xml" Id="R0ad3a036b813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490da43bd48d7" /><Relationship Type="http://schemas.openxmlformats.org/officeDocument/2006/relationships/notesSlide" Target="/ppt/notesSlides/notesSlide6.xml" Id="R3e30c6fd9b9d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1c88c7aa6434c" /><Relationship Type="http://schemas.openxmlformats.org/officeDocument/2006/relationships/notesSlide" Target="/ppt/notesSlides/notesSlide7.xml" Id="Rd6fe0a5a697447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05357556a482a" /><Relationship Type="http://schemas.openxmlformats.org/officeDocument/2006/relationships/notesSlide" Target="/ppt/notesSlides/notesSlide8.xml" Id="R2552eead02fb4b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3eddc1c9a4932" /><Relationship Type="http://schemas.openxmlformats.org/officeDocument/2006/relationships/notesSlide" Target="/ppt/notesSlides/notesSlide9.xml" Id="R317eafb18cc646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23b5a32a84b2b" /><Relationship Type="http://schemas.openxmlformats.org/officeDocument/2006/relationships/notesSlide" Target="/ppt/notesSlides/notesSlide10.xml" Id="Rf524ad78a7e94d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30f472bb146de" /><Relationship Type="http://schemas.openxmlformats.org/officeDocument/2006/relationships/notesSlide" Target="/ppt/notesSlides/notesSlide11.xml" Id="R6795efb542a042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dc8105b00472b" /><Relationship Type="http://schemas.openxmlformats.org/officeDocument/2006/relationships/notesSlide" Target="/ppt/notesSlides/notesSlide12.xml" Id="Rcd6c3b4596df4d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68d82edd745b7" /><Relationship Type="http://schemas.openxmlformats.org/officeDocument/2006/relationships/notesSlide" Target="/ppt/notesSlides/notesSlide13.xml" Id="R0b9dae946a4049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B5BE99-5D61-40BD-9BF6-2F3AF7AE338E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8572500" y="3600450"/>
            <a:ext cx="126682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256CEC-B8DF-4003-980A-C9CB6903529A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715375" y="2057400"/>
            <a:ext cx="112395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E5FF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7325B4-6040-470C-AE26-07F6BB4BC41C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EB54-5E61-40AD-9CD3-F0D8AAB0C24B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AEE3D-BF64-40E7-B42C-2967447F121A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986A4-FB5F-4A7C-860C-49BFDA424CC4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48A6B-CD2E-40AC-8F1C-0B48C410C395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8928A-16AC-4622-AFBF-602C8A031E94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FEAE5-53FE-49D3-A1D2-E4CEDEC8D587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70793-BB03-4E3E-ADED-A645D4B8A22D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184C1-68E3-4F77-B634-DE6F39D2E049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F61D9-CF33-43E4-9B5E-F2D9DC90482B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AC235-FC31-498C-A9B5-2BDE9CC87046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87EDB-E7D0-4149-B6A5-D30BEDD7913E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1D2FB-5A02-48C4-8772-8B4CE6B30E5B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28FBF-6DEF-4569-B249-70CC386DC2C2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816D1-59C9-4CCC-B809-9EFD0A503F5C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6123B-B091-489D-8E19-7E15A7665ED6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B2326-0FF8-4BC3-95D6-6D26A1BB4D86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F13D8-314C-4018-BC06-247EBB08BC82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F6874-2EE0-4E33-9F49-9A4B7D877BAF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E3F5B-9AB9-48B1-97EB-29CB5401F1C1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A4DDD-2AEA-4961-A93D-60BFBA961700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BF3AD-4781-415B-B59C-8B6B7022E483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169D3-11F5-43F3-A68B-67C896180A61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FDB75-8A8D-4C75-9BA9-2E2CBE82F14A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C30F9-4D08-4A0F-BD1B-5C7DD46C29A2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735FF-3CC5-49B7-A416-251920A3E03D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C5C22-A56C-4C5E-A45B-C6F351F947AB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1C280-F71B-4B7F-8595-8EFAA609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0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DATA STACK CONFERENCE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0FB67-3A76-439E-86E8-6D18C4E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Where RAG truth gets lost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C4E1A-BC58-4EF7-AE3A-87E0C483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A live demo of stale docs, missing context, runtime state, and the checks that keep answers honest.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5E0ED-4C8D-410D-B193-CC1AD0E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5CE6E-B784-4A92-B588-0B2ABC18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95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Docs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D9B88E-A905-4020-8437-0C72390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contracts, guides, Slack, incidents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8C0540-7315-4E6E-B4DF-45164933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0A1D"/>
          </a:solidFill>
          <a:ln xmlns:a="http://schemas.openxmlformats.org/drawingml/2006/main" w="15240">
            <a:solidFill>
              <a:srgbClr val="8A5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BB9195-4040-4F68-AF00-6D4B5F3B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38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A5CFF"/>
                </a:solidFill>
                <a:latin typeface="Arial"/>
                <a:ea typeface="Arial"/>
                <a:cs typeface="Arial"/>
              </a:rPr>
              <a:t>Retriever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585F3-10A1-4B22-B68A-5738C6FD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ranked evidence with traces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215D17-72B7-4ACE-ABA7-337C3C97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48150"/>
            <a:ext cx="2590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7E1F2E-7701-4B0D-8E9B-B610953E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Live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16D19-BB64-45CB-A6C8-A826386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24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partition readiness from SQLite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EA7563-D508-4ED9-9D42-1C5B21B2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demo included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DC43D7-72FD-4A7E-B0F5-7BBD4B74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4692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599C0B-4AD0-4861-84D0-411A3BC02EAE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286250" y="3362325"/>
            <a:ext cx="161925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0EB7DC-07E4-4BC9-AE8C-AF26333C9D7C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4286250" y="2828925"/>
            <a:ext cx="161925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E5FF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E49DAE-8F6A-45FB-B5EF-97C7A84CFCAF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58713-218C-454A-98CA-250CEAA69E03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9BC79-C48C-4A1B-B203-07128A43C080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479D7-94F6-4D74-81B9-706CCFC38889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6162C-D00B-4E8D-8572-C7888BFD7B2F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71FE8-D999-4C00-8EE1-46531289FAD5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1FEEA-F7E9-4A9B-A206-632ADD1983B3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0158D-F2A6-41AF-B99F-E9E2F512AA6A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110D6-F046-411C-93DD-B053F5F1D107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A2D42-C17B-4F8E-BCC7-317433BB76D7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A56CF-22BC-444C-8257-0303B7BF4BAA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C674D-2114-439D-9C1B-0C1F0EC939BB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330F6-708F-42CA-9EA7-F03D031FC041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B4EB6-6641-432D-B341-50FEB0B0ACA2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4B32D-3ECA-4F9B-8D03-8563B6EBE19F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A3F99-BA23-4F5C-A3A8-9E31C5437529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3D172-D470-475A-99B2-F3EDA23E4547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9A5F2-E137-4C19-83A6-638EC47D9EE0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4231A-2480-4FB6-B930-37A890A45181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BE4B3-13D0-488B-AD3E-0E4F4792ECFD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A84CE-E6B2-48E8-B00A-483B1A41209B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1B22E-C40E-4F49-B98C-B1DBB5430D8E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A5CFA-D2BF-4D74-8F5F-D2305BB48D90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FD68C-442D-440C-A8E2-5411A476D0B9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8504E-72C1-4441-9807-ABDB9696A01A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593B6-612B-4219-88A8-A7460E8D4F11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99AFA-FE15-40DC-A305-CB3440FF5D52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684DF-4808-46CF-A261-3FC26999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8CF64E-57DF-4893-B1FD-FB91FDE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One question contains two different risks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3974F-6458-4F09-9AD3-F081918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answer must identify the right table and decide whether yesterday's data can be trusted.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7FCFAA-F1FF-4E6E-A8C9-31BE89F3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3D10A-B152-4F24-8E93-1CC308E5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80B15"/>
          </a:solidFill>
          <a:ln xmlns:a="http://schemas.openxmlformats.org/drawingml/2006/main" w="15240">
            <a:solidFill>
              <a:srgbClr val="F8FAF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7F9D2-BD04-48E2-B8D2-AC55E89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User question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5DC15-FDF8-4C55-8E98-B8EB7D0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Which table should I use for EU net revenue, and can I trust yesterday's data?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3CDF96-4AEE-44E7-B81F-1C860B8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56729-A1F9-464E-B417-9F5C004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B0D96-359C-4097-B162-688681E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metric definition lives in historical documents.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FA1D2F-6040-4591-A5FD-B5BBACB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118D3E-5C50-4078-908B-7595C3C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3805F9-5DD0-4656-8504-7049044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Readiness lives in operational state.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1AEEB5-4652-45E7-A214-91C770A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good RAG answer needs both paths.</a:t>
            </a:r>
          </a:p>
        </p:txBody>
      </p:sp>
    </p:spTree>
    <p:extLst>
      <p:ext uri="{BB962C8B-B14F-4D97-AF65-F5344CB8AC3E}">
        <p14:creationId xmlns:p14="http://schemas.microsoft.com/office/powerpoint/2010/main" val="102926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1C8962-2F06-4527-91A5-C8991C229F48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91650" y="3648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D61D2E-D1E1-4BB7-8340-27B10458E6D9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105650" y="3648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D166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76F755-893A-4308-B99A-7AEDFA333D97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819650" y="36480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04B06D-C47B-471C-B7CF-8792A4B2BA6B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667000" y="36480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E5FF"/>
            </a:solidFill>
            <a:prstDash val="solid"/>
            <a:tailEnd type="arrow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090D6F-0ED2-4C24-882F-38D5F482F73A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50CA1-AEAA-418C-9668-5E3ABE9E04D9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32371-4356-45F7-97E8-C6298FAFECE6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18D13-A5D1-4DBA-A9DE-CF9763184F00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1C8E1-D1AC-4F1C-963D-A1C9127CF41B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A4F78-1B20-41B3-9DE4-8BBF1BBF448D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17BF7-0026-4185-9EBD-B12528074974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7AD28-1D22-4C69-BCD0-07B78BDEA804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B12CA-F17F-4203-A12F-747F81C1F1C7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69704-9E12-48E0-A598-8A7F565BA853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801BE-A695-4370-800B-97D48663D18B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FC4CD-1C9E-43AA-87CC-7D47B2B9B03F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B3615-1EB5-454E-B8C9-0159494BEB99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7492F-9032-4F75-A1CB-893645D40D05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1889A-A0DC-4DE2-8337-7AF8F5DA8CF0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A453F-BCDD-465D-A3C6-D10BFE0B3525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2C01D-8DE5-4BF9-93A9-3CB62D799BEB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AC01F-B3E5-4084-B7BC-E71D1A275F5E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0D0BC-CD8B-4667-9C13-6496635129DC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69E73-A774-4600-B5A9-D72BC94F9B7E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F6FE7-A223-4816-946E-A46D88BDAED9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1FF59-D279-498D-90B1-786B944471C3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32F718-A719-49F2-876A-345235DC57DA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BAC43-5C51-4550-A048-E4B80C03D58B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B6989-7DE0-4EE9-9C50-9B14CBBA3504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ACCB35-2186-492D-A17F-A72081371520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6ADF5-9160-4B1E-B5CC-2C6106816F88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BCC5C-DD97-4E32-83B5-25A3BBFE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F3C46-B106-4DF9-8636-1FE689D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demo stack keeps every decision inspectable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20BB4-9358-431B-BDFC-17FA422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Each run returns an answer, retrieved evidence, live status, and a trace of the safeguards that fired.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EBD64A-F079-40CA-B1F5-6DA3F2B0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CBC24E-1C33-4CC1-A753-8607A81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2000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98002-E0B6-4964-B6D6-B58F883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Synthetic corpus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37F192-F452-4B1C-899A-CDC3368A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657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16 docs with contracts, legacy guides, incidents, snapshots, and Slack messages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0AB10-45EE-4939-AE86-4B0AA01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1809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0A1D"/>
          </a:solidFill>
          <a:ln xmlns:a="http://schemas.openxmlformats.org/drawingml/2006/main" w="15240">
            <a:solidFill>
              <a:srgbClr val="8A5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4EA3C4-5A9E-4217-A206-0283882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A5CFF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C5A5A9-EDA3-428E-BE28-BFBCF713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909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region, environment, status, access, kind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ABFBF-1EE7-4E34-8F85-EFE1FD69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1943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006"/>
          </a:solidFill>
          <a:ln xmlns:a="http://schemas.openxmlformats.org/drawingml/2006/main" w="15240">
            <a:solidFill>
              <a:srgbClr val="FFD1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158CCF-F9B9-4BB1-8BD5-167B47B1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Retriever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95C835-87DD-4B9A-981E-50D5857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1600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BM25 offline or MiniLM plus cross encoder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E39B43-7551-4B94-9457-8C30A2F6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14650"/>
            <a:ext cx="19240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60715"/>
          </a:solidFill>
          <a:ln xmlns:a="http://schemas.openxmlformats.org/drawingml/2006/main" w="15240">
            <a:solidFill>
              <a:srgbClr val="FF2B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B51553-C74A-4696-B090-E278A8A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2BD6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9E7C7C-704F-4C40-9B1B-B362F0F3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90900"/>
            <a:ext cx="1581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contract beats migration, policy, incident, Slack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2D115B-D3A7-44A7-8F2C-EF757A02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1809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9120C8-339E-49AE-A2F4-2197C21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Live check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13F784-F455-4726-B69A-E3109C1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909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fixed SQL reads partition readiness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64D864-AADD-4134-9122-FC8070F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19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704769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3DF0A4-8FFF-4800-BFCC-C8A78670D148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168E0-0BD1-49A9-BF53-91D3407D135B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6353E-2FD1-47F7-9CE2-DF5F99395A53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6F6F-EA6F-495A-BD6A-2EAF68B93696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C7F3-B5A9-4C2C-B25B-3D5A1FA7BEA6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3354A-7959-44AE-A5AA-6CD36E9454DA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80A7E-E997-4D88-A5F5-0EC4CB2C603A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120BE-067A-434A-916F-C998ED866A7C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635C4-FE7E-4DA1-991F-8D08BF947312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1E31F-0967-4AAA-96FB-30DCB057173C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2A6D5-D94B-4F55-ABD0-052E0B9134FE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51CCA-9FEB-4EAE-838D-AEC19A8744B1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8ED2C-6A8D-443E-B87E-51F8CFE7E711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9F70D-3DEF-4840-BA94-CFC27B771FFC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32D67-1DB3-47E3-96EB-C1E5541C28FE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25FA6-F2F3-496C-B646-9B93E292C825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0EF3F-60B9-4EE8-85AF-C41CE31BF3E2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24A48-80EA-4FF8-86DA-6DB5B17C763B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3AF29-C460-41BC-BE17-858D4A03A251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09830-CB61-452C-BBFA-6DC9F15F70C9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EC8C2-C8CE-4BFD-ACEA-BDFB8FE2255A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4147D-A0A9-451C-94F2-DE7BE8E6C889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534AD-16CC-45CA-80C6-A8860CFD381A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782CE-D452-486C-8466-DF0CDBAE5583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0A4AE-7733-4CAA-BDE3-91726B9822E6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F6E87-665A-47AD-A7C6-573DCFF69230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8D890-3A38-4A64-842F-57CAB45686A7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7E82E-66DF-4412-9E72-080C5985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FAILURE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6E7C9C-60F1-4296-9809-87BB3646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Naive retrieval treats stale guidance like current truth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747AFC-3605-4607-829D-F36C524D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BM25 can rank an old guide and a historical Slack shortcut above the contract that should govern the answer.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5C983-4164-41E4-9DAD-1A039606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E15DE-7102-43CD-A93E-C1E385B3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8763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070C"/>
          </a:solidFill>
          <a:ln xmlns:a="http://schemas.openxmlformats.org/drawingml/2006/main" w="13335">
            <a:solidFill>
              <a:srgbClr val="FF3B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E78B0-2A54-4C7C-A533-4A21655B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D6D481-66A7-4EE8-9524-4981399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01_legacy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D9D85-2613-4413-8438-C197E725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deprecated guide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429688-95B0-43D5-A555-795C88E9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finance.daily_revenue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1D9079-23F5-4D1D-A34C-D90F9E3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8763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070C"/>
          </a:solidFill>
          <a:ln xmlns:a="http://schemas.openxmlformats.org/drawingml/2006/main" w="13335">
            <a:solidFill>
              <a:srgbClr val="FF3B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00A569-8FDA-405D-A891-E870010D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473A33-C98D-4459-90B6-784FBD4D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07_slack_old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367D1-196A-4A5B-9C94-0DE913B9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deprecated Slack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FD221C-BF7F-4EC9-BF90-A9C27979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86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finance.daily_revenue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0447F-9287-4A1C-88C7-50685B2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8763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DF161-C043-4023-A165-41515827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#3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32AE8D-9726-4CDC-A7B5-BA78D6E9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719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04_metric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7AC9F7-7F5D-4410-96AB-EADE42E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active contract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F19AA3-D2DF-43C6-B221-B4CBCCF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D166"/>
                </a:solidFill>
                <a:latin typeface="Arial"/>
                <a:ea typeface="Arial"/>
                <a:cs typeface="Arial"/>
              </a:rPr>
              <a:t>definition only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C4440B-9AF2-44CA-9861-86264274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8763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3335">
            <a:solidFill>
              <a:srgbClr val="00E5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8C042-B5EF-4981-86CD-091C35B8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67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#4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A389E2-557E-4D65-AFC1-1305AEC4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57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02_contract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8FC89C-17A3-4E35-AB3C-C4FCAAB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76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active contract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638F5D-DB26-4F36-BFE9-464EC11E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57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E5FF"/>
                </a:solidFill>
                <a:latin typeface="Arial"/>
                <a:ea typeface="Arial"/>
                <a:cs typeface="Arial"/>
              </a:rPr>
              <a:t>canonical table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4EA8F4-6B06-4793-A756-9082C7CF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2BD6"/>
                </a:solidFill>
                <a:latin typeface="Arial"/>
                <a:ea typeface="Arial"/>
                <a:cs typeface="Arial"/>
              </a:rPr>
              <a:t>Wrong-looking evidence can still sound confident.</a:t>
            </a:r>
          </a:p>
        </p:txBody>
      </p:sp>
    </p:spTree>
    <p:extLst>
      <p:ext uri="{BB962C8B-B14F-4D97-AF65-F5344CB8AC3E}">
        <p14:creationId xmlns:p14="http://schemas.microsoft.com/office/powerpoint/2010/main" val="1315927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6E606A-89F2-4DE0-B400-A48AF8D5263A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7677150" y="3467100"/>
            <a:ext cx="1038225" cy="1533525"/>
          </a:xfrm>
          <a:prstGeom xmlns:a="http://schemas.openxmlformats.org/drawingml/2006/main" prst="bentConnector5">
            <a:avLst>
              <a:gd name="adj1" fmla="val 0"/>
              <a:gd name="adj2" fmla="val 14907"/>
              <a:gd name="adj3" fmla="val 77982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B2C0FE-81CD-4DD9-8296-888887D85C00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277100" y="29146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2BD6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3575AC-3120-4035-80C2-3023F6B6703E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724400" y="29146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9AC63D-BFD9-4364-9D62-672F5FD9448E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2400300" y="2914650"/>
            <a:ext cx="5143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E5FF"/>
            </a:solidFill>
            <a:prstDash val="solid"/>
            <a:tailEnd type="arrow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1FD196-E584-4824-B41B-5351962BCE05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C559-7824-43AE-9F2E-A07E6E4F2B74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9E6E2-4D17-48FC-A9A1-5828E7403C54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2F6C1-81A4-4D29-9FB2-4C0D735EB119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EEFB4-6C82-42E7-A93B-73205F3B4C42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8794A-2027-4FA4-A4C5-84DCFA67CBA8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AEC00-1F64-412F-AA74-27B1A7EAB242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EE3E8-4536-4F96-BB4D-A20D2484199F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6CDDB-2C12-4110-9700-440131263265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CD04-236B-4B54-97D6-0671B9996A87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B65B0-89C4-4082-BD77-DAEF69E9219F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88121-E785-4A46-A031-22D3B33B34B2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45D7C-55EA-4789-89CB-9035BCF54A8C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AA2D0-205F-4090-BA28-40270BD9ED84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2CF6A-C873-40B0-9AAE-8CDC4AE07DA5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7A378-953A-422C-8AFC-DF091BD2DA7F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D08AB-DF66-46A5-9EE4-6E8C8E6806B9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F959A-8E29-4815-A153-80BD7BF2524A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2D381-9E70-4271-8D9E-C3F1C200447C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383BA-985C-4E92-B863-0E3D0997D7D5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F535F-367B-4F18-A469-BF2273796B61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B0F23-6292-498C-8C3E-2E5AFC1C2DB2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E100D-F667-4B2A-9AB0-2F9F6554DC18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97560-71C0-4434-BBC0-7E90E6AD00CD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9E3AE-C220-48A4-9277-E88BCD2035D0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0D652-D448-42B7-BE0B-CFFA6926F1A4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0D7AB-73C5-4D2A-8858-07A12FE5B42C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A337C-FDB4-4822-A9A9-9624EC2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FIX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70C24-6DFC-4B74-A561-85AD56D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Scope and authority turn retrieval into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0F9B6-D0DF-4EE1-8DC1-47495BA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improved path filters to EU, prod, active, internal sources, expands the query, then orders by source authority.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2A4DA-9F59-4479-9D89-C80A3AB1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C8E93F-CCC7-4A9E-874C-9A25350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0B15"/>
          </a:solidFill>
          <a:ln xmlns:a="http://schemas.openxmlformats.org/drawingml/2006/main" w="15240">
            <a:solidFill>
              <a:srgbClr val="F8FAF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A70C2-823B-49F6-87B8-2CFF101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B0AD59-818B-4D79-9A57-AAF450FB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EU net revenue table and readiness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C3A4B0-4D09-4135-A775-0B38D370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622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7BA877-00B4-442C-9B4A-85BDF91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Metadata filter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499808-D53E-4E8C-87E5-64BD4D6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384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EU, prod, active, internal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D4F2B-7A7E-4840-A412-A926A76A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0A1D"/>
          </a:solidFill>
          <a:ln xmlns:a="http://schemas.openxmlformats.org/drawingml/2006/main" w="15240">
            <a:solidFill>
              <a:srgbClr val="8A5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ED08DF-729E-4168-A233-50E44595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A5CFF"/>
                </a:solidFill>
                <a:latin typeface="Arial"/>
                <a:ea typeface="Arial"/>
                <a:cs typeface="Arial"/>
              </a:rPr>
              <a:t>Query expansion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91ABDB-48DC-4820-B5AA-D0F33FA0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384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contract, VAT, refunds, currency, completeness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CB6856-9ED6-4EB6-8BA8-A89C05C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1962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60715"/>
          </a:solidFill>
          <a:ln xmlns:a="http://schemas.openxmlformats.org/drawingml/2006/main" w="15240">
            <a:solidFill>
              <a:srgbClr val="FF2B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973A14-BC93-42F2-B44B-92BAC418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2BD6"/>
                </a:solidFill>
                <a:latin typeface="Arial"/>
                <a:ea typeface="Arial"/>
                <a:cs typeface="Arial"/>
              </a:rPr>
              <a:t>Authority policy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5EB3A8-6613-46CC-90D4-379AA38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contract first, Slack last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EE1A22-A8B1-4DFB-8B0A-2352F00D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D77B35-8631-4E33-BCBE-80D12FCA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91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Scoped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8EA9E9-ACED-4D59-AB85-77AE3EA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149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02_contract and 04_metric lead the answer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A426FC-F46C-42DE-BDFB-393B0B04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trace proves which safeguards ran.</a:t>
            </a:r>
          </a:p>
        </p:txBody>
      </p:sp>
    </p:spTree>
    <p:extLst>
      <p:ext uri="{BB962C8B-B14F-4D97-AF65-F5344CB8AC3E}">
        <p14:creationId xmlns:p14="http://schemas.microsoft.com/office/powerpoint/2010/main" val="888314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E19D12-7F3C-435E-8C47-8700D5A0D019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286250" y="3705225"/>
            <a:ext cx="3333750" cy="238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FD166"/>
            </a:solidFill>
            <a:prstDash val="solid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91E042-5D40-440F-A651-FB7E69D29410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BDB9E-FDC0-47A9-891F-D8FA7653944D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80B87-54FE-4F28-90B4-326372CAF17F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C35D9-27BC-43F8-9AB1-9610B9472BAB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4668-D532-4D77-8C6B-0F77A4794345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FA21A-71D2-45AB-B096-0F9FEB1546B0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AF6AD-8740-4F12-9C03-C7B9E38BBCCA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84A39-CB6C-47F6-BAF9-60BE19D398C3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E9FB1-FC75-4F4A-A086-079BF3CC7147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029FF-8AC8-44C5-9D8A-15654D5333EC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ED6D7-4160-4B74-8925-EF58E2E93317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89542-DBD9-4D5E-9B4B-B72BB7F64085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FD96B-70C9-4C6C-B5AB-1689927BF31F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A9A6B-A718-4C6B-95DD-2097FD54692F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7F9C4-A297-4DC2-8937-2D8964942B6E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14A4B-390E-411B-9D74-9B16837BFFEC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9E533-9729-4BEB-BED2-7C2C82BE4377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EB34B-0C73-47CB-BA71-B419876389D8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7B269-B8D3-4A10-81AA-0CE6172329D9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20003-26D7-4CAB-A011-913E6C6FF2DD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F8C15-EDE6-4347-865A-D5A432797539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AF145-28AA-4B02-A666-7F367118A2D3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62A61-7B9A-4310-AF6A-4270F7C9B469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F3C84-B8A2-4A64-97BE-5A85B44114EC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830D3-26FA-4851-BF68-475E7E543EBB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1B4AF-6CF1-426D-ADAA-D5F30AC015FE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CE284-726D-4F4D-96C3-52E65B0917A0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6A3C6-55BB-4C34-A22E-F0BD8F03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FAILURE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6FDED-5328-4F6B-895F-EB4F9A8C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Correct definitions still leave readiness 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63396-FF42-4F40-AC41-4FCBE6B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Context mode identifies the canonical table, but it cannot prove that yesterday's partitions finished.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38A50-7BAA-4AB4-91CC-9EC949B7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B2DF64-74E1-49A7-B409-8E8F224E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143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348209-EEDE-4321-9E7B-1161B4D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Historical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0C46E-EFB4-4B64-B67C-290C222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finance.fct_net_revenue_v2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local currency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VAT and refunds handled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B81A23-BD51-4ED5-848A-C8298155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143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006"/>
          </a:solidFill>
          <a:ln xmlns:a="http://schemas.openxmlformats.org/drawingml/2006/main" w="15240">
            <a:solidFill>
              <a:srgbClr val="FFD1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BF9383-7E02-4434-BFC7-6E559D6B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99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8A3807-8F80-45CC-A736-97D9ADDA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Use the v2 table. Current readiness is UNKNOWN because no live check ran.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BBB399-FE61-4F9C-B34B-06B13BE4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71850"/>
            <a:ext cx="2400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FFD1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E73D08-EE78-4DDD-9FA8-43ACE81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missing runtime proof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E13B8A-B52B-4291-9291-29783631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Docs can explain meaning. They cannot certify today's pipeline state.</a:t>
            </a:r>
          </a:p>
        </p:txBody>
      </p:sp>
    </p:spTree>
    <p:extLst>
      <p:ext uri="{BB962C8B-B14F-4D97-AF65-F5344CB8AC3E}">
        <p14:creationId xmlns:p14="http://schemas.microsoft.com/office/powerpoint/2010/main" val="939925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FB99A5-98EF-4A81-9FFA-67890E226AC7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7143750" y="3781425"/>
            <a:ext cx="140970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8EF9EA-4C49-4C54-A175-72F1F378CF07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143750" y="3638550"/>
            <a:ext cx="14097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436765-1385-4B98-A950-C8A675A846CB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143750" y="2686050"/>
            <a:ext cx="140970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3B5F"/>
            </a:solidFill>
            <a:prstDash val="solid"/>
            <a:tailEnd type="arrow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47FDD8-8717-4D57-93C7-5C4B583A27BD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3771900" y="3324225"/>
            <a:ext cx="1181100" cy="1266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1A338A-13E0-4337-A9A1-3E5F972AB0CA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3771900" y="3324225"/>
            <a:ext cx="1181100" cy="314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3754E8-2172-4B2B-AA44-75846A731D10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3771900" y="2686050"/>
            <a:ext cx="118110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3B5F"/>
            </a:solidFill>
            <a:prstDash val="solid"/>
            <a:tailEnd type="arrow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389E2C-3F67-4433-83EA-B60003A26552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CDBD2-93D3-4420-8AEC-DCD702A44E1A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C0CE9-F853-47FB-AC13-D6E8A3DDCFDA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409FB-3465-40E9-86CB-73981B9274DB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5EF09-05B3-494A-B640-A1CF5EF5B673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12BF1-A6A5-4C88-A865-FAE92307DB72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93222-9ED8-4A1A-BE1A-F8622FB33811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55209-677A-470D-874B-458FE63ED527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79C18-D0E0-40F5-90C0-C9961637E0C5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557CE-52B2-4644-8EA1-3886D80EA444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1AC0F-0519-4562-BC68-8401426C894F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DF67B-B2B4-424A-998F-4011A930AF3B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12170-23ED-4735-ACB1-FC8002A46FEE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942BC-83F6-485F-858E-58D6572DD978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8CBA0-BC7F-425D-847B-4E4F5FB14489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61F60-8E36-40FB-8E41-FD8FC6DF98F6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BE92E-801C-4165-B054-61C2623A9B29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19C06-34CE-4FF0-99EB-57E6DA92B9EF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A90F8-8C92-428B-9AD3-B3133770466D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3A4C6-1E37-4712-846E-F88D1041B738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6AB00-DE21-4F47-A97A-84DEA2700721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44B71-2DB5-4A3E-86C5-5E862EF013FA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B240B-DEA9-4C5F-8AE2-83A8AD0935BF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7B1553-6F2D-49DC-9666-C365E590CD24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68734-3569-40C2-8E6C-132348A21831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BA4D8-2E84-4FC2-8CAE-1BBAB97428F6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550EE-4727-46E2-811A-4D0202432541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3BA17-878F-4016-B8A1-42691D84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FIX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E70E9-1868-45D2-8341-A8AF3772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Live evidence gates the 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E7BAE-921E-4FC4-AB81-970A079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live mode keeps the contract answer, then checks the operational partition table for the requested business date.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2A82A1-CEF5-47E2-B802-4C78500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B15A9-ED1A-4E40-856B-902AAFDC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971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D7A2D-F546-4AB1-8A40-60957F8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Parameterized 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18C799-9F19-43D7-A3B8-9A021F00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asset = finance.fct_net_revenue_v2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business_date = 2026-10-09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2D1439-BF13-4EC1-B8B9-7E1C9B9B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2190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FF3B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32A7E6-1A55-45CD-9532-368CE582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DE incomplete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7F9ADC-338C-4900-BC8D-6F6F109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2190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A6FF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437D74-D617-41BC-917F-DA1D694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48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FR complete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420437-E211-4252-8557-54656B70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2190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A6FF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A28945-F555-4FAB-AB05-119BF58F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PL complete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BB5D0D-E76A-4083-80FD-BB8AE6FB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476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070C"/>
          </a:solidFill>
          <a:ln xmlns:a="http://schemas.openxmlformats.org/drawingml/2006/main" w="15240">
            <a:solidFill>
              <a:srgbClr val="FF3B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934EC9-9870-4A40-B95F-DF0C54E6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Readiness gate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5FF025-5032-4D2B-92CC-32A6378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complete =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answer says NOT ready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747099-9A64-4159-95E0-1CD8791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response changes only when state changes.</a:t>
            </a:r>
          </a:p>
        </p:txBody>
      </p:sp>
    </p:spTree>
    <p:extLst>
      <p:ext uri="{BB962C8B-B14F-4D97-AF65-F5344CB8AC3E}">
        <p14:creationId xmlns:p14="http://schemas.microsoft.com/office/powerpoint/2010/main" val="1668229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D6064-09E6-4A28-815B-7BA88D63C471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448300" y="3571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2BD6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0639D3-846C-4DAC-BC8C-7B628EE50B63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BBC4C-7266-4BB7-9229-22B1621EE4C4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3B2A8-D262-426C-8566-FCDBE52807FD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36E22-ADDB-47A2-9CDD-FC0098E8336D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6E820-EBE2-4D32-BFCC-A9DB843CF179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B3250-9AEB-43D1-A67A-029D3EEF0754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E48CB-1293-4739-891B-903145AFF33B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AC68E-67C6-4DF5-85C8-C2B7710D22B4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AF3E7-81E3-4F4E-8AD7-4382D7B7460F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D2F37-DE8E-4B8A-8F15-23C566E418CE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67B24-641A-4B11-A4C2-BFCB84FCEC62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3D885-937F-4119-8239-EAD6F01B3EC3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DCEF1-3203-4673-A0B8-42084A47B94F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F8263-3D12-452B-AFF6-1330418468AF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343E6-0D72-485F-AC59-D5A413087990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C1C3B-72A6-4640-9FA9-EA1A6A12EDAF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D3493-9275-486A-A890-61BB8E5DDEBA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29E6D-5604-400A-ADBE-5742789E7A88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0ECB6-208C-4629-B872-E5138FCA5A86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C3635-8C49-492E-B194-3E322A7BC2ED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9D7B8-1D15-44B7-A415-B8ABA6B74659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7937A-867F-4516-9275-48D3196B6DD0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8CD1D-A917-4271-AB0E-D64BC59D5088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61C22-5E5F-47FE-AC2E-E3DF6729D432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3A0D0-BCEC-426C-B760-8918B5AB8DAE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B3C34-1E52-4661-AFB1-3578D91600B0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AEE26-B7DC-46D2-9AD5-000D5047CD4F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DED13-577C-466D-8B85-24FE168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FAILURE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ECA9B-6F94-442A-B650-BE2298F8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small context cut can remove the condition that matters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3E967-A7CC-4590-A784-0E1751B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ablation truncates each document after the first sentence. That can hide currency, refunds, and completeness requirements.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46EBB9-A0AD-4845-8895-20CC1B8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D4E09-689D-493D-BF72-24A8FD52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2383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F31D9F-FC94-4378-B316-39D2A277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Full 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F6CAA7-8C2D-4E7F-8CE7-FDEE2EF0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Canonical asset: finance.fct_net_revenue_v2.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Daily net revenue excludes VAT and subtracts refunds.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Amounts are in local currency.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Completeness must be checked separately.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3A831C-26BA-4961-8086-DBA7A6E6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0715"/>
          </a:solidFill>
          <a:ln xmlns:a="http://schemas.openxmlformats.org/drawingml/2006/main" w="12383">
            <a:solidFill>
              <a:srgbClr val="FF2B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1B8BE-56DA-4260-BF3B-B8DA71C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2BD6"/>
                </a:solidFill>
                <a:latin typeface="Arial"/>
                <a:ea typeface="Arial"/>
                <a:cs typeface="Arial"/>
              </a:rPr>
              <a:t>Truncated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1DAE92-5B20-4C88-8023-FC3FBD0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Canonical asset: finance.fct_net_revenue_v2.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26272-AF97-4139-A853-08529096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table survives. The safety conditions disappear.</a:t>
            </a:r>
          </a:p>
        </p:txBody>
      </p:sp>
    </p:spTree>
    <p:extLst>
      <p:ext uri="{BB962C8B-B14F-4D97-AF65-F5344CB8AC3E}">
        <p14:creationId xmlns:p14="http://schemas.microsoft.com/office/powerpoint/2010/main" val="1364428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6C808A-6AB1-4496-A0EC-5BC46CFC4E0D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592C5-1BEA-4594-A63B-0BA60A3C6FA6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BDFDC-C4E5-4EF7-86F8-3B20E0DFBBAA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CD00C-9421-4561-BC65-B045F58FE2DD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352D8-8D66-4E16-A742-1FE75B0218EF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3EE24-1205-4A5E-9697-FD7E34D09D2B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76AD1-218F-4B34-836F-AF021DF33174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C9105-0E29-4956-96AC-52949222867E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30CF6-5C34-48BF-B4AD-C92E2097966B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2988B-E0E3-4522-A223-A37B5DC872EE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A65C9-2F08-44DC-8646-819A2C01D3D4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FDC9C-4EC9-4B07-ADA5-361DE9E4E3C1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056FC-9DC0-43CA-8640-994118AA4A55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58FB3-4718-4984-9CE3-E096BB31E39D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B152D-862F-4688-8F62-BA3A92F647C9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BB76C-8759-4BCB-BE30-12AADFD333FD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ACA9E-B7FB-4455-BC33-379CEB91DF95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D77B7-06E4-4953-91A3-655DA9A784BB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A9A45-6C09-4B0E-ADDC-C2AC8EC7EB9A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C90EB-A96F-4921-A178-715792ED7EBE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A0C2E-462B-47E3-ACAC-F7A2CA5C2CDC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107F5-DA70-4BEC-909A-0CF282243C32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4BF6C-EBCC-4DA1-AFD8-421853701E15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BD5BE-8C22-47BF-8F09-6674A820C599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0C39A-3BFB-4665-8F37-77B125EC9013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14823-77DA-4DE5-B842-C6DD71822A1F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AEC59E-3C93-4A96-8A49-89CC604A5F47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EEAF5-2AB9-4F6D-A3D2-E912E4BF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FAILURE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2ACCA-DEEB-4DD0-BD07-21E51138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polished demo can hide the missing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8E0B0-C2AB-4ADC-9F5B-C07DC112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starter kit proves the control flow. It does not claim retrieval quality, groundedness, latency, or cost improvement.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5B7A9-3DD0-4608-8E74-100BEC71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27B142-CA17-4016-BA4A-326D23AD6D83}"/>
              </a:ext>
            </a:extLst>
          </p:cNvPr>
          <p:cNvGraphicFramePr/>
          <p:nvPr/>
        </p:nvGraphicFramePr>
        <p:xfrm>
          <a:off xmlns:a="http://schemas.openxmlformats.org/drawingml/2006/main" x="1009650" y="2590800"/>
          <a:ext xmlns:a="http://schemas.openxmlformats.org/drawingml/2006/main" cx="9334500" cy="2495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11500"/>
                <a:gridCol w="3111500"/>
                <a:gridCol w="3111500"/>
              </a:tblGrid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2BD6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1607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2BD6"/>
                          </a:solidFill>
                          <a:latin typeface="Arial"/>
                          <a:ea typeface="Arial"/>
                          <a:cs typeface="Arial"/>
                        </a:rPr>
                        <a:t>Demo covers</a:t>
                      </a:r>
                    </a:p>
                  </a:txBody>
                  <a:tcPr marL="91440" marR="91440" marT="45720" marB="45720">
                    <a:solidFill>
                      <a:srgbClr val="1607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2BD6"/>
                          </a:solidFill>
                          <a:latin typeface="Arial"/>
                          <a:ea typeface="Arial"/>
                          <a:cs typeface="Arial"/>
                        </a:rPr>
                        <a:t>Real evaluation needs</a:t>
                      </a:r>
                    </a:p>
                  </a:txBody>
                  <a:tcPr marL="91440" marR="91440" marT="45720" marB="45720">
                    <a:solidFill>
                      <a:srgbClr val="160715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Retrieval</a:t>
                      </a:r>
                    </a:p>
                  </a:txBody>
                  <a:tcPr marL="91440" marR="91440" marT="45720" marB="45720">
                    <a:solidFill>
                      <a:srgbClr val="0711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Inspectable evidence</a:t>
                      </a:r>
                    </a:p>
                  </a:txBody>
                  <a:tcPr marL="91440" marR="91440" marT="45720" marB="45720">
                    <a:solidFill>
                      <a:srgbClr val="0711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6FF00"/>
                          </a:solidFill>
                          <a:latin typeface="Arial"/>
                          <a:ea typeface="Arial"/>
                          <a:cs typeface="Arial"/>
                        </a:rPr>
                        <a:t>Labelled query set</a:t>
                      </a:r>
                    </a:p>
                  </a:txBody>
                  <a:tcPr marL="91440" marR="91440" marT="45720" marB="45720">
                    <a:solidFill>
                      <a:srgbClr val="07111E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Grounding</a:t>
                      </a:r>
                    </a:p>
                  </a:txBody>
                  <a:tcPr marL="91440" marR="91440" marT="45720" marB="45720">
                    <a:solidFill>
                      <a:srgbClr val="0508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Cited synthetic docs</a:t>
                      </a:r>
                    </a:p>
                  </a:txBody>
                  <a:tcPr marL="91440" marR="91440" marT="45720" marB="45720">
                    <a:solidFill>
                      <a:srgbClr val="0508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6FF00"/>
                          </a:solidFill>
                          <a:latin typeface="Arial"/>
                          <a:ea typeface="Arial"/>
                          <a:cs typeface="Arial"/>
                        </a:rPr>
                        <a:t>Answer faithfulness scoring</a:t>
                      </a:r>
                    </a:p>
                  </a:txBody>
                  <a:tcPr marL="91440" marR="91440" marT="45720" marB="45720">
                    <a:solidFill>
                      <a:srgbClr val="050816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Abstention</a:t>
                      </a:r>
                    </a:p>
                  </a:txBody>
                  <a:tcPr marL="91440" marR="91440" marT="45720" marB="45720">
                    <a:solidFill>
                      <a:srgbClr val="0711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Unknown readiness path</a:t>
                      </a:r>
                    </a:p>
                  </a:txBody>
                  <a:tcPr marL="91440" marR="91440" marT="45720" marB="45720">
                    <a:solidFill>
                      <a:srgbClr val="0711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6FF00"/>
                          </a:solidFill>
                          <a:latin typeface="Arial"/>
                          <a:ea typeface="Arial"/>
                          <a:cs typeface="Arial"/>
                        </a:rPr>
                        <a:t>False confidence tests</a:t>
                      </a:r>
                    </a:p>
                  </a:txBody>
                  <a:tcPr marL="91440" marR="91440" marT="45720" marB="45720">
                    <a:solidFill>
                      <a:srgbClr val="07111E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0508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SQLite state change</a:t>
                      </a:r>
                    </a:p>
                  </a:txBody>
                  <a:tcPr marL="91440" marR="91440" marT="45720" marB="45720">
                    <a:solidFill>
                      <a:srgbClr val="0508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6FF00"/>
                          </a:solidFill>
                          <a:latin typeface="Arial"/>
                          <a:ea typeface="Arial"/>
                          <a:cs typeface="Arial"/>
                        </a:rPr>
                        <a:t>Latency and cost tracking</a:t>
                      </a:r>
                    </a:p>
                  </a:txBody>
                  <a:tcPr marL="91440" marR="91440" marT="45720" marB="45720">
                    <a:solidFill>
                      <a:srgbClr val="050816"/>
                    </a:solidFill>
                  </a:tcPr>
                </a:tc>
              </a:tr>
            </a:tbl>
          </a:graphicData>
        </a:graphic>
      </p:graphicFrame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EAE56-597F-45A2-A20B-FF1DB99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05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2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demo earns attention. Measurement earns trust.</a:t>
            </a:r>
          </a:p>
        </p:txBody>
      </p:sp>
    </p:spTree>
    <p:extLst>
      <p:ext uri="{BB962C8B-B14F-4D97-AF65-F5344CB8AC3E}">
        <p14:creationId xmlns:p14="http://schemas.microsoft.com/office/powerpoint/2010/main" val="483213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657E01-3849-45DF-8585-01F4D46E9DEE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7658100" y="32385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1B1AD5-598B-40E3-BF27-FD6F398BE15D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5524500" y="32385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C23B43-BA1C-42DF-B1E2-9DCED9F1E815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390900" y="32385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C9495F-90C0-49ED-96B3-2A675F106DA1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257300" y="32385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81CAEC-A273-4EB5-AC2C-86F46FE31910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65B55-A96C-446C-AFAC-F34385CD8A34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4C9DD-B424-49E4-80E8-BF9FE5E91453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369AA-A96D-4E37-BBA4-E75E4D95548F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E352E-402C-4C55-B37A-1E5507B4155B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16F68-A0C4-47AD-9D1D-16C620A2DC6A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D470F-C908-4052-ADEF-B121644128FE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A37A3-F86F-446D-928F-E881996C3B49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64FC3-0775-4BAE-A7F0-A68A1A63F213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BE31E-57DC-43F1-BEBC-AC08F5F8F37E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83495-2A49-48B8-A9FA-AA4249771B35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D827-4BF8-4BB4-A89B-538B81CE446E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B76A2-D43A-4687-A848-E6659A7F8E40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E81DC-275D-434E-BEFA-A1F5873887DD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2C922-0223-485F-AEA3-F50FBA27F289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A0DD8-3246-46AD-9875-D8AB8A4BD6DC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DF02C-4E46-40E7-9578-7DB2ED40E8BE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B7479-FBD3-408E-ABE9-0AA98603CA90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E672C-B7AE-418D-BDEA-5BD8148A5D6B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6EA07-C6AD-4714-B7B6-6DE90043CDA2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76547-DED2-4B96-9396-3DEF9403F70B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27E96-7FBD-4A59-AE08-AC006DB4E715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415AC-A9E2-4AF2-8FB0-7465D1F053CE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8A728-52C8-4CCC-88C2-EABE164130B6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17F88-282C-4E3E-A78B-E27DB203F592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36F5B-96F7-42C3-BF87-3658E9A1CB87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7B8AE-64CC-42E0-AABA-81589DAE5B51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7E6F9-F104-4DFD-9322-B2BA8B5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DEMO RUNBOOK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7457C-04FE-4224-BDBF-3653B8C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Five commands show the failure and the fix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981E08-6CA0-4C7A-BD5E-6CA267A0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demo is short enough for the stage, with JSON outputs ready as a fallback.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DA561-0E1E-4F1A-9FF9-E08B3F2A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5B69E-34AA-4004-A169-BEAF970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7E4DBA-37DF-45AD-A173-357A298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D19B2A-3FCB-42A5-B8E6-C9E90EE8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1A1CC2-1B67-4CC0-BBF6-06CC6C6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naive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5819FF-AF03-4EE6-8753-540D0A7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old guide can rank high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644AC-A993-43C1-8C01-25E16B6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289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E19EB0-0464-44B7-A9B7-E3333897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98C69-AFA7-4FA4-AE19-32807023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766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8B609F-C513-4491-8378-E38E6363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290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48D921-8267-4F25-9283-F84CA8C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contract wins, readiness unknown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09EB22-C1F6-40FA-8EBE-06C0897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FF3B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983B91-A7B5-4E4A-9933-04436D77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3A44B5-73B5-431D-B2BD-B052A33D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070C"/>
          </a:solidFill>
          <a:ln xmlns:a="http://schemas.openxmlformats.org/drawingml/2006/main" w="15240">
            <a:solidFill>
              <a:srgbClr val="FF3B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B459EF-0D4E-4830-B734-DF3E343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05CBB5-3CA0-43C4-9643-A5402E9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DE incomplete blocks trust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DD4443-DD97-4AD1-A6AE-0F56A98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5CE534-01AA-4926-A46A-4C803BDC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7DB81B-BBFE-4F5B-B4BB-ADC4F67F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A38816-62B9-4916-8BE9-038BCB67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set complete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7FE230-B3B4-4F6B-9E80-B9B97062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DE flips the answer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3D558E-8C80-433D-97ED-723AB19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E12313-1595-4AEA-91EF-A2709643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C681C2-9F6B-4F79-876D-EA76C952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33733A-2B1C-460C-A653-DC01EC7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disable live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354857-94E9-4B88-A3A8-925B4AFE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52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readiness becomes unknown again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E45682-1447-453B-82C9-8BF62B5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33950"/>
            <a:ext cx="885825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030712"/>
          </a:solidFill>
          <a:ln xmlns:a="http://schemas.openxmlformats.org/drawingml/2006/main" w="11430">
            <a:solidFill>
              <a:srgbClr val="A6FF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6F4639-1BC1-44F3-A73E-93735EFB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05400"/>
            <a:ext cx="8477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python3 scripts/demo.py --mode naive --reset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python3 scripts/demo.py --mode context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python3 scripts/demo.py --mode live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python3 scripts/demo.py --mode live --set-de complete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python3 scripts/demo.py --mode live --disable live</a:t>
            </a:r>
          </a:p>
        </p:txBody>
      </p:sp>
    </p:spTree>
    <p:extLst>
      <p:ext uri="{BB962C8B-B14F-4D97-AF65-F5344CB8AC3E}">
        <p14:creationId xmlns:p14="http://schemas.microsoft.com/office/powerpoint/2010/main" val="224657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C56C74-A30E-4252-B1E8-3AFE60596BF2}"/>
              </a:ext>
            </a:extLst>
          </p:cNvPr>
          <p:cNvCxnSpPr>
            <a:stCxn xmlns:a="http://schemas.openxmlformats.org/drawingml/2006/main" id="35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7524750" y="3724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D46A2A-1F38-4737-85CD-3C7DAF97D36C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572000" y="3724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E5FF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9252E4-3F80-40CF-B4C6-09C9CCD8AB7D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9316D-2A71-46B7-8134-C41EE670C453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C7DC8-3C06-4FEE-83BA-281C1E3EE5A8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18554-396C-42DA-94E5-D4C688B3EA78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908F-463A-4DE0-B258-273FDD91A492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3A52B-2EB3-4992-A8FB-8EE1818177CE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5C657-935F-4925-AE11-536E61D3FE19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F7DE9-64E2-411A-924C-301906C38687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EC6D4-6359-41AF-9868-01CFFF49DB0F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0AA8C-5392-4928-8026-46BDD5F7916C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C9BAB-92F0-49F2-A8FA-418FE1CCED7E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3897-FE3D-468B-81EE-4A4649B9C130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A2A4C-7827-401D-B1CC-FF2BE7403F60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4F3E0-96A8-45A9-B3A0-5351267DF871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70FFD-1FF0-4724-9EAE-5B3FEA1DF3AC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3B283-B9D1-45F6-A10F-FE2FD6341362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82BD0-8667-4E35-9AD7-1651C6DE2942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CA79C-8527-403D-B3A1-30849E8CDC62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A7110-C39E-4276-BD37-434800D33AE7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EDA1F-24E9-4056-BA71-55662F6AF551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545FC-A574-4473-97A1-A24B177A8737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3CC1B-511B-4D62-A04E-1EFB6F2AA78A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5251B-9304-48B9-ADE7-D97CB82CDB0A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1FD8F-C72F-4235-B419-8FF1223E8385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FB9EB-2B5C-4695-8FE6-FE0BDC0AF229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881A3-B381-41A9-8E86-B4D367DABD2F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70E1B3-7225-45AC-AD73-B633A68B537E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1496B-390C-46CC-A1A8-5B56D496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HARDENING PATTERN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D5524-628B-4126-B8DC-D7C537BC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Truth needs a contract and a clock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B9C9C9-02D3-409D-AEF3-D200EE6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Separate stable meaning from live applicability, then make the answer name the evidence behind each part.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5AFDB-473C-4778-A214-A5608FFC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8F3F9-9C46-4E12-95B8-068ED55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11C"/>
          </a:solidFill>
          <a:ln xmlns:a="http://schemas.openxmlformats.org/drawingml/2006/main" w="15240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357028-ABB2-4CD7-BDB8-221013C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71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Contract plane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4FE82-AA41-47FB-9AE8-D7F74A1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95650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schemas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metric definitions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owners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8600B4-05B4-4BEA-80C0-EEAEC8E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980D43-B734-4F67-A140-3877B7F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Runtime plane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C5B021-BB3B-470B-8B9C-FD0B719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95650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freshness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incidents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quality gates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7FCF05-C535-4EE0-9DBA-1CB0924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285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B0A1D"/>
          </a:solidFill>
          <a:ln xmlns:a="http://schemas.openxmlformats.org/drawingml/2006/main" w="15240">
            <a:solidFill>
              <a:srgbClr val="8A5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CECC90-6CDF-4BA0-B1AB-C0C018CB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A5CFF"/>
                </a:solidFill>
                <a:latin typeface="Arial"/>
                <a:ea typeface="Arial"/>
                <a:cs typeface="Arial"/>
              </a:rPr>
              <a:t>Answer composer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046DDE-5F5A-47BC-8B7C-362A927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2514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cite sources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state uncertainty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block when readiness fails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8CB019-A0B8-4A0E-AD30-5480926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288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85AACC-DFE2-4C6C-B0A0-64B9DC0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05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historical meaning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319EDC-E922-4D22-AC69-B555A37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288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A6FF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6267FA-C8C6-4CDD-82CD-63A613F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</p:spTree>
    <p:extLst>
      <p:ext uri="{BB962C8B-B14F-4D97-AF65-F5344CB8AC3E}">
        <p14:creationId xmlns:p14="http://schemas.microsoft.com/office/powerpoint/2010/main" val="1064410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F43C3B-D9CF-4DB7-9B31-6411B4B94107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46760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4A9504-CA8E-4B20-BDE4-88C9085B0F10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019550" y="3609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5CFF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8F9BE7-B408-497A-908E-002EF6A65F01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135E9-56F3-4788-9FB6-A14D644089FE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859B-C7E9-4A83-8AD7-E56A7B818649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3BE6D-75F1-453A-A791-F6DDA3BCC791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77981-0D6A-4260-813A-B85DA819FFDE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9A9D8-5570-445B-A29F-1F8095882DD9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BF97A-D844-44F1-BDBC-623E8479BA5D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AAA07-1042-4266-8A7C-A106BD2346E5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0F51C-972F-4D85-AFD0-F258471D038A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D9213-D00C-49AE-ABDE-4645AD18BE43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CBE1D-B8EA-4E6F-90A9-6CAAE4E2C287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F57A-5FF7-416D-ADEB-0E02C377E232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24733-521A-4A03-8B81-C84B4DEC5853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1E2DE-D25D-48AB-91A4-98BEBDB4EF6D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5D780-1991-4390-BE7E-796E297FB452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C1352-9748-4583-B78B-3606850355DA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B49D3-1BD2-411D-B993-98C7B2EB4C07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7A2FF-9706-4025-818D-19999BF1DAC7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0B957-2F74-4AEE-BCDE-756CC2CD3321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A8F0E-22B3-4A47-8CB1-57B6CA44C376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98197-5CD4-443A-A737-C0AF86E40A77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D98FA-0A0D-4955-A60E-58D560B1AEF7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E9254-2621-491D-9583-356B32117C9A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97803-6B25-4079-AA44-DA300611F326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F250E-51CD-4E4D-AD2E-391A63D4342C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C4A64-D1BF-4F30-9153-78BED6A0A3A8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F1DBC-B8B0-43A8-8F48-12F60CDF8E36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B4236-654E-4822-947B-6CDF5F95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STATE CHANGE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EC3D8-4432-40CF-96C6-3BCB81B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 doc changed, but the answer changed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58861-4496-448C-A201-6E3B513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After DE moves to complete, the same contract remains valid and the readiness decision flips.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B5A93-0340-4A64-8442-F07D4FA6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D797F-6F23-41F8-9D88-EE2EA51E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070C"/>
          </a:solidFill>
          <a:ln xmlns:a="http://schemas.openxmlformats.org/drawingml/2006/main" w="15240">
            <a:solidFill>
              <a:srgbClr val="FF3B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09FEA-E45A-4140-BA88-802FAD1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3B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3B5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727113-6290-4079-8295-A96EAB12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DE incomplete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FR complete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PL complete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FC7C48-8330-4DAE-A82D-0ACBE50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71608"/>
          </a:solidFill>
          <a:ln xmlns:a="http://schemas.openxmlformats.org/drawingml/2006/main" w="15240">
            <a:solidFill>
              <a:srgbClr val="A6FF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32299-4CA1-450B-BCD9-31D8FBEB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3C82F3-DD95-4A7B-8BB2-3280499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2514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DE complete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FR complete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PL complete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B6C733-EC51-4AFD-8E76-87D285C0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743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0A1D"/>
          </a:solidFill>
          <a:ln xmlns:a="http://schemas.openxmlformats.org/drawingml/2006/main" w="15240">
            <a:solidFill>
              <a:srgbClr val="8A5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CBEE2F-ECBE-4712-9943-47894ECC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956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A5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A5CFF"/>
                </a:solidFill>
                <a:latin typeface="Arial"/>
                <a:ea typeface="Arial"/>
                <a:cs typeface="Arial"/>
              </a:rPr>
              <a:t>Mutation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116FA1-9E72-4D74-83BC-7A40C74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195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--set-de complete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023226-1282-44CB-B11F-A6D473E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3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0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This proves partition readiness only. FX and quality checks still need their own gates.</a:t>
            </a:r>
          </a:p>
        </p:txBody>
      </p:sp>
    </p:spTree>
    <p:extLst>
      <p:ext uri="{BB962C8B-B14F-4D97-AF65-F5344CB8AC3E}">
        <p14:creationId xmlns:p14="http://schemas.microsoft.com/office/powerpoint/2010/main" val="723703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3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13F1FA-BD67-443D-82FB-E740BC31784F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115300" y="3362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FF00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C1CFDF-C168-4560-88E6-83393D1B8C2D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753100" y="3362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2BD6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4D57A3-C66B-4FF5-A506-0013EF99F362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390900" y="33623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E5FF"/>
            </a:solidFill>
            <a:prstDash val="solid"/>
            <a:tailEnd type="arrow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D71EBB-74AF-4BB6-9F17-98F9B484F89A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413F8-1F79-424A-BC32-1722FCBA2A5F}"/>
              </a:ext>
            </a:extLst>
          </p:cNvPr>
          <p:cNvCxnSpPr/>
          <p:nvPr/>
        </p:nvCxn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546B-3B1D-4E93-88E8-76E3ED34F19E}"/>
              </a:ext>
            </a:extLst>
          </p:cNvPr>
          <p:cNvCxnSpPr/>
          <p:nvPr/>
        </p:nvCxn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868DA-3E61-49E1-B3B0-169B9B64B77A}"/>
              </a:ext>
            </a:extLst>
          </p:cNvPr>
          <p:cNvCxnSpPr/>
          <p:nvPr/>
        </p:nvCxn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A2D10-5EBE-41F4-B995-0D3668B1101E}"/>
              </a:ext>
            </a:extLst>
          </p:cNvPr>
          <p:cNvCxnSpPr/>
          <p:nvPr/>
        </p:nvCxn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96119-24C1-45D4-8F4E-DA96671BF140}"/>
              </a:ext>
            </a:extLst>
          </p:cNvPr>
          <p:cNvCxnSpPr/>
          <p:nvPr/>
        </p:nvCxn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C3BF0-96D2-474B-966E-49FD060AE9A7}"/>
              </a:ext>
            </a:extLst>
          </p:cNvPr>
          <p:cNvCxnSpPr/>
          <p:nvPr/>
        </p:nvCxn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5AA15-9C04-49A4-8A4A-003825E15F55}"/>
              </a:ext>
            </a:extLst>
          </p:cNvPr>
          <p:cNvCxnSpPr/>
          <p:nvPr/>
        </p:nvCxn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FF51D-57EE-425E-9ABF-B9DB41D43A8D}"/>
              </a:ext>
            </a:extLst>
          </p:cNvPr>
          <p:cNvCxnSpPr/>
          <p:nvPr/>
        </p:nvCxn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5F2DC-7714-4E8E-A5C2-4A9603B35A90}"/>
              </a:ext>
            </a:extLst>
          </p:cNvPr>
          <p:cNvCxnSpPr/>
          <p:nvPr/>
        </p:nvCxn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765B9-2E7B-4B55-A3FB-36179B9C2F60}"/>
              </a:ext>
            </a:extLst>
          </p:cNvPr>
          <p:cNvCxnSpPr/>
          <p:nvPr/>
        </p:nvCxn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B9DD5-9CD8-4FEF-BFA9-2D6E040A2531}"/>
              </a:ext>
            </a:extLst>
          </p:cNvPr>
          <p:cNvCxnSpPr/>
          <p:nvPr/>
        </p:nvCxn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FA1E1-B2C0-4757-BF6B-43E8C625F5A1}"/>
              </a:ext>
            </a:extLst>
          </p:cNvPr>
          <p:cNvCxnSpPr/>
          <p:nvPr/>
        </p:nvCxn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A7E0-9CD7-4310-877B-19104CA8E8FF}"/>
              </a:ext>
            </a:extLst>
          </p:cNvPr>
          <p:cNvCxnSpPr/>
          <p:nvPr/>
        </p:nvCxn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397AF-6106-4D27-85EA-C31891F52834}"/>
              </a:ext>
            </a:extLst>
          </p:cNvPr>
          <p:cNvCxnSpPr/>
          <p:nvPr/>
        </p:nvCxn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8F177-DD33-4042-A330-F80ACFC22B0C}"/>
              </a:ext>
            </a:extLst>
          </p:cNvPr>
          <p:cNvCxnSpPr/>
          <p:nvPr/>
        </p:nvCxn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32C9F-8570-44B7-AD7D-CA4571AA30D2}"/>
              </a:ext>
            </a:extLst>
          </p:cNvPr>
          <p:cNvCxnSpPr/>
          <p:nvPr/>
        </p:nvCxn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FE42E-4A25-4E2F-9E52-A1079DAD80F9}"/>
              </a:ext>
            </a:extLst>
          </p:cNvPr>
          <p:cNvCxnSpPr/>
          <p:nvPr/>
        </p:nvCxn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99AFA-0AB6-4030-98FF-FAE0DF1646E6}"/>
              </a:ext>
            </a:extLst>
          </p:cNvPr>
          <p:cNvCxnSpPr/>
          <p:nvPr/>
        </p:nvCxn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33BAA-0B24-4BA6-A547-D00287311D19}"/>
              </a:ext>
            </a:extLst>
          </p:cNvPr>
          <p:cNvCxnSpPr/>
          <p:nvPr/>
        </p:nvCxn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DE792-A597-41C6-89AF-DB7094CFBE06}"/>
              </a:ext>
            </a:extLst>
          </p:cNvPr>
          <p:cNvCxnSpPr/>
          <p:nvPr/>
        </p:nvCxn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84D16-5941-49AC-B3F6-E45F9172B3F0}"/>
              </a:ext>
            </a:extLst>
          </p:cNvPr>
          <p:cNvCxnSpPr/>
          <p:nvPr/>
        </p:nvCxn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6DD8C-69F3-4F38-8730-F91FB05AB474}"/>
              </a:ext>
            </a:extLst>
          </p:cNvPr>
          <p:cNvCxnSpPr/>
          <p:nvPr/>
        </p:nvCxn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F10B3-D99E-404B-98B1-987C2FA05EEF}"/>
              </a:ext>
            </a:extLst>
          </p:cNvPr>
          <p:cNvCxnSpPr/>
          <p:nvPr/>
        </p:nvCxn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7A5E1-E110-4D1D-8B58-B18923889971}"/>
              </a:ext>
            </a:extLst>
          </p:cNvPr>
          <p:cNvCxnSpPr/>
          <p:nvPr/>
        </p:nvCxn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0AD80-8227-41C3-A721-692F39189981}"/>
              </a:ext>
            </a:extLst>
          </p:cNvPr>
          <p:cNvCxnSpPr/>
          <p:nvPr/>
        </p:nvCxn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ED04E-FF87-4599-B798-913A9B8A8042}"/>
              </a:ext>
            </a:extLst>
          </p:cNvPr>
          <p:cNvCxnSpPr/>
          <p:nvPr/>
        </p:nvCxn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4">
            <a:solidFill>
              <a:srgbClr val="11182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C5ABD-0A53-4441-ADAA-F189026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826BB-AEEB-4979-AD41-33DC57C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RAG gets safer when uncertainty becomes visible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71E764-AC52-49D8-AE7B-B84CAA6E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93A4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8"/>
                </a:solidFill>
                <a:latin typeface="Arial"/>
                <a:ea typeface="Arial"/>
                <a:cs typeface="Arial"/>
              </a:rPr>
              <a:t>The stack does not need magic. It needs scoped retrieval, source authority, live evidence, and measured failure cases.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0B45A-C179-4842-BF46-3B270FB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48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46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60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6CB41-C91D-4B34-B6F3-FE45E17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2038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7808E9-17AE-476A-8BD5-0034E42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0E5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E5FF"/>
                </a:solidFill>
                <a:latin typeface="Arial"/>
                <a:ea typeface="Arial"/>
                <a:cs typeface="Arial"/>
              </a:rPr>
              <a:t>Scoped retrieval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52176D-CDC9-4844-B5C2-67B43175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2038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FF2B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7FC8A1-BA2C-4375-8337-29F404D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23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2BD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2BD6"/>
                </a:solidFill>
                <a:latin typeface="Arial"/>
                <a:ea typeface="Arial"/>
                <a:cs typeface="Arial"/>
              </a:rPr>
              <a:t>Authority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3DCB31-8DA6-43DB-8E7F-508FF86D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2038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A6FF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65DE72-D866-404A-AD17-DD7F187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A6F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FF00"/>
                </a:solidFill>
                <a:latin typeface="Arial"/>
                <a:ea typeface="Arial"/>
                <a:cs typeface="Arial"/>
              </a:rPr>
              <a:t>Live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53BA3-71E4-4CB6-86C5-CA39FAE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20383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40812"/>
          </a:solidFill>
          <a:ln xmlns:a="http://schemas.openxmlformats.org/drawingml/2006/main" w="10478">
            <a:solidFill>
              <a:srgbClr val="FFD1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A0BBB8-4D35-4AE2-910C-CD995BB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23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CFF2C7-9BF7-4D84-B6D9-6F4A82B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When evidence conflicts, the system should show its work before it answers.</a:t>
            </a:r>
          </a:p>
        </p:txBody>
      </p:sp>
    </p:spTree>
    <p:extLst>
      <p:ext uri="{BB962C8B-B14F-4D97-AF65-F5344CB8AC3E}">
        <p14:creationId xmlns:p14="http://schemas.microsoft.com/office/powerpoint/2010/main" val="425364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2026-10-10T15:24:56.4620000Z</dcterms:created>
  <dcterms:modified xsi:type="dcterms:W3CDTF">2026-10-10T15:24:56.4620000Z</dcterms:modified>
</coreProperties>
</file>